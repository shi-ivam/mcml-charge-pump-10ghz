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PROJECT REVIEW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Switch-Based CMOS Charge Pump for PLL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UP/DN charge redistribution creates a controllable Vop within the supply range.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10512"/>
            <a:ext cx="5074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0F1C23"/>
                </a:solidFill>
                <a:latin typeface="Aptos"/>
              </a:rPr>
              <a:t>Vop does not boost above VDD.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48006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26870"/>
                </a:solidFill>
                <a:latin typeface="Aptos"/>
              </a:rPr>
              <a:t>The selected S1-S4 circuit adds or removes small packets of charge at the loop-filter output.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822191"/>
            <a:ext cx="1417320" cy="841248"/>
          </a:xfrm>
          <a:prstGeom prst="roundRect">
            <a:avLst/>
          </a:prstGeom>
          <a:solidFill>
            <a:srgbClr val="E9F2FA"/>
          </a:solidFill>
          <a:ln w="889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3968496"/>
            <a:ext cx="11247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526870"/>
                </a:solidFill>
                <a:latin typeface="Aptos Mono"/>
              </a:rPr>
              <a:t>CONTROL COMMAND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206240"/>
            <a:ext cx="11247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1D23"/>
                </a:solidFill>
                <a:latin typeface="Aptos"/>
              </a:rPr>
              <a:t>UP / DN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67712" y="3822191"/>
            <a:ext cx="1417320" cy="841248"/>
          </a:xfrm>
          <a:prstGeom prst="roundRect">
            <a:avLst/>
          </a:prstGeom>
          <a:solidFill>
            <a:srgbClr val="ECF6EB"/>
          </a:solidFill>
          <a:ln w="889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3968496"/>
            <a:ext cx="11247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526870"/>
                </a:solidFill>
                <a:latin typeface="Aptos Mono"/>
              </a:rPr>
              <a:t>OUTPUT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4016" y="4206240"/>
            <a:ext cx="11247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1D23"/>
                </a:solidFill>
                <a:latin typeface="Aptos"/>
              </a:rPr>
              <a:t>0 ≤ Vop &lt; VDD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9624" y="3822191"/>
            <a:ext cx="1417320" cy="841248"/>
          </a:xfrm>
          <a:prstGeom prst="roundRect">
            <a:avLst/>
          </a:prstGeom>
          <a:solidFill>
            <a:srgbClr val="FBF4E2"/>
          </a:solidFill>
          <a:ln w="889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928" y="3968496"/>
            <a:ext cx="112471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526870"/>
                </a:solidFill>
                <a:latin typeface="Aptos Mono"/>
              </a:rPr>
              <a:t>PROJECT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95928" y="4206240"/>
            <a:ext cx="1124712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111D23"/>
                </a:solidFill>
                <a:latin typeface="Aptos"/>
              </a:rPr>
              <a:t>Cadence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874519"/>
            <a:ext cx="5376672" cy="361188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1874519"/>
            <a:ext cx="64008" cy="361188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039112"/>
            <a:ext cx="49926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Reference paper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2423160"/>
            <a:ext cx="4974336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M. Sivasakthi and P. Radhika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High-Speed MCML Charge Pump Design at 10 GHz Frequency in 45 nm CMOS Technology for PLL Application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Paper reference: 1 V supply, 0-980 mV control-voltage swing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Those are reference-paper results, not results claimed for this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10912"/>
            <a:ext cx="4800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Team: Pragyan Jain (24BLC1100), Shivam Kumar (24BLC1103), K Navin Aakash (23BLC1238)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THEORY AND PLL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From UP/DN Decisions to a Control Voltage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The phase-frequency detector requests correction. The charge pump translates that request into Vop.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47088"/>
            <a:ext cx="3429000" cy="34564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47088"/>
            <a:ext cx="64008" cy="3456432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11680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Signal 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3026664" cy="279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PFD creates UP or DN pulses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S1-S4 select the charge route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Ci transfers a small charge packet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CL stores and smooths Vop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controls the PLL loop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47088"/>
            <a:ext cx="3429000" cy="3456432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47088"/>
            <a:ext cx="64008" cy="3456432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2011680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What UP, DN, and hold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395728"/>
            <a:ext cx="3026664" cy="279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UP: deliver charge to CL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DN: remove charge from CL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Hold: isolate Vop as much as possible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always remains below VDD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847088"/>
            <a:ext cx="3429000" cy="3456432"/>
          </a:xfrm>
          <a:prstGeom prst="roundRect">
            <a:avLst/>
          </a:prstGeom>
          <a:solidFill>
            <a:srgbClr val="FBF4E2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847088"/>
            <a:ext cx="64008" cy="3456432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011680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Core 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395728"/>
            <a:ext cx="3026664" cy="2798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A capacitor stores charge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Q = C V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More transferred charge produces a larger Vop step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CL trades fast response for smooth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VLSI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What Will Be Built in Cadence Virtuoso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The project recreates the selected transistor-switch circuit and tests it with a reusable schematic symbol and testbench.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03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65376"/>
            <a:ext cx="338328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65376"/>
            <a:ext cx="64008" cy="356616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2999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Circuit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14016"/>
            <a:ext cx="298094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Individual NMOS and PMOS switches for S1-S4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Internal capacitor Ci and output capacitor CL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VDD, ground, UP, DN, and complementary controls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Clearly labelled Vop measurement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65376"/>
            <a:ext cx="3383280" cy="356616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8" y="1865376"/>
            <a:ext cx="64008" cy="3566160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029968"/>
            <a:ext cx="2999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Testbench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414016"/>
            <a:ext cx="298094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DC supply and synchronized pulse sources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Complementary inputs and optional timing gap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Adjustable output load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and supply-current probes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865376"/>
            <a:ext cx="3383280" cy="3566160"/>
          </a:xfrm>
          <a:prstGeom prst="roundRect">
            <a:avLst/>
          </a:prstGeom>
          <a:solidFill>
            <a:srgbClr val="FBF4E2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0456" y="1865376"/>
            <a:ext cx="64008" cy="3566160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2029968"/>
            <a:ext cx="29992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Simulation-only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414016"/>
            <a:ext cx="298094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Transient analyses in Cadence Virtuoso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No chip fabrication or laboratory testing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No final waveform claim in Review 1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Later reviews add measured Cadence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SELECTED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The S1-S4 Switch-Based PLL Charge Pump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Ci moves charge through controlled paths. CL stores the resulting Vop below VDD.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pic>
        <p:nvPicPr>
          <p:cNvPr id="9" name="Picture 8" descr="switch_based_charge_pump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83080"/>
            <a:ext cx="3938991" cy="4434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883664"/>
            <a:ext cx="5212080" cy="105156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83664"/>
            <a:ext cx="64008" cy="105156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048256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VDD and 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32304"/>
            <a:ext cx="4809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Energy source and lower reference for the switching network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82112"/>
            <a:ext cx="521208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182112"/>
            <a:ext cx="64008" cy="1051560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346704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UP / 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730752"/>
            <a:ext cx="4809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Commands that request controlled upward or downward Vop movement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480560"/>
            <a:ext cx="5212080" cy="1051560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4480560"/>
            <a:ext cx="64008" cy="1051560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4645152"/>
            <a:ext cx="482803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Ci / 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029200"/>
            <a:ext cx="4809744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Transfer capacitor and output storage capacitor, respectively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OPERATING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UP, DN, and Hold Control Vop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The waveform below is a conceptual explanation of the planned simulation, not a completed Cadence result.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47088"/>
            <a:ext cx="2834640" cy="3520440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47088"/>
            <a:ext cx="64008" cy="3520440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11680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395728"/>
            <a:ext cx="243230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UP and its complement activate the upper transfer arrangement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Charge is delivered toward CL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rises by a small amount but stays below VDD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1847088"/>
            <a:ext cx="2834640" cy="3520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30752" y="1847088"/>
            <a:ext cx="64008" cy="3520440"/>
          </a:xfrm>
          <a:prstGeom prst="rect">
            <a:avLst/>
          </a:prstGeom>
          <a:solidFill>
            <a:srgbClr val="9F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41064" y="2011680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DN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064" y="2395728"/>
            <a:ext cx="243230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DN and its complement activate the lower transfer arrangement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Charge leaves CL through the controlled path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falls by a small amount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39712" y="1847088"/>
            <a:ext cx="2834640" cy="352044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39712" y="1847088"/>
            <a:ext cx="64008" cy="352044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2011680"/>
            <a:ext cx="24505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2395728"/>
            <a:ext cx="2432304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Neither transfer is requested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The output is isolated as much as possible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CL holds charge, while leakage can cause slow 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48672" y="1847088"/>
            <a:ext cx="1618488" cy="3520440"/>
          </a:xfrm>
          <a:prstGeom prst="roundRect">
            <a:avLst/>
          </a:prstGeom>
          <a:solidFill>
            <a:srgbClr val="F2F7F6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04120" y="2066543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526870"/>
                </a:solidFill>
                <a:latin typeface="Aptos Mono"/>
              </a:rPr>
              <a:t>CONCEPTUAL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76688" y="272491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26870"/>
                </a:solidFill>
                <a:latin typeface="Aptos Mono"/>
              </a:rPr>
              <a:t>UP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71048" y="2999232"/>
            <a:ext cx="704088" cy="0"/>
          </a:xfrm>
          <a:prstGeom prst="line">
            <a:avLst/>
          </a:prstGeom>
          <a:ln w="9525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671048" y="2999232"/>
            <a:ext cx="140817" cy="0"/>
          </a:xfrm>
          <a:prstGeom prst="line">
            <a:avLst/>
          </a:prstGeom>
          <a:ln w="27940">
            <a:solidFill>
              <a:srgbClr val="346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811865" y="2706624"/>
            <a:ext cx="0" cy="292608"/>
          </a:xfrm>
          <a:prstGeom prst="line">
            <a:avLst/>
          </a:prstGeom>
          <a:ln w="27940">
            <a:solidFill>
              <a:srgbClr val="346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811865" y="2706624"/>
            <a:ext cx="211227" cy="0"/>
          </a:xfrm>
          <a:prstGeom prst="line">
            <a:avLst/>
          </a:prstGeom>
          <a:ln w="27940">
            <a:solidFill>
              <a:srgbClr val="346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023092" y="2706624"/>
            <a:ext cx="0" cy="292608"/>
          </a:xfrm>
          <a:prstGeom prst="line">
            <a:avLst/>
          </a:prstGeom>
          <a:ln w="27940">
            <a:solidFill>
              <a:srgbClr val="346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023092" y="2999232"/>
            <a:ext cx="352044" cy="0"/>
          </a:xfrm>
          <a:prstGeom prst="line">
            <a:avLst/>
          </a:prstGeom>
          <a:ln w="27940">
            <a:solidFill>
              <a:srgbClr val="3465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76688" y="350215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26870"/>
                </a:solidFill>
                <a:latin typeface="Aptos Mono"/>
              </a:rPr>
              <a:t>DN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671048" y="3776472"/>
            <a:ext cx="704088" cy="0"/>
          </a:xfrm>
          <a:prstGeom prst="line">
            <a:avLst/>
          </a:prstGeom>
          <a:ln w="9525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671048" y="3776472"/>
            <a:ext cx="387248" cy="0"/>
          </a:xfrm>
          <a:prstGeom prst="line">
            <a:avLst/>
          </a:prstGeom>
          <a:ln w="27940">
            <a:solidFill>
              <a:srgbClr val="9F2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1058296" y="3483864"/>
            <a:ext cx="0" cy="292608"/>
          </a:xfrm>
          <a:prstGeom prst="line">
            <a:avLst/>
          </a:prstGeom>
          <a:ln w="27940">
            <a:solidFill>
              <a:srgbClr val="9F2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058296" y="3483864"/>
            <a:ext cx="161940" cy="0"/>
          </a:xfrm>
          <a:prstGeom prst="line">
            <a:avLst/>
          </a:prstGeom>
          <a:ln w="27940">
            <a:solidFill>
              <a:srgbClr val="9F2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1220236" y="3483864"/>
            <a:ext cx="0" cy="292608"/>
          </a:xfrm>
          <a:prstGeom prst="line">
            <a:avLst/>
          </a:prstGeom>
          <a:ln w="27940">
            <a:solidFill>
              <a:srgbClr val="9F2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220236" y="3776472"/>
            <a:ext cx="154900" cy="0"/>
          </a:xfrm>
          <a:prstGeom prst="line">
            <a:avLst/>
          </a:prstGeom>
          <a:ln w="27940">
            <a:solidFill>
              <a:srgbClr val="9F2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076688" y="4279392"/>
            <a:ext cx="502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26870"/>
                </a:solidFill>
                <a:latin typeface="Aptos Mono"/>
              </a:rPr>
              <a:t>Vop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671048" y="4553712"/>
            <a:ext cx="704088" cy="0"/>
          </a:xfrm>
          <a:prstGeom prst="line">
            <a:avLst/>
          </a:prstGeom>
          <a:ln w="9525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671048" y="4553712"/>
            <a:ext cx="126735" cy="0"/>
          </a:xfrm>
          <a:prstGeom prst="line">
            <a:avLst/>
          </a:prstGeom>
          <a:ln w="27940">
            <a:solidFill>
              <a:srgbClr val="346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0797783" y="4442520"/>
            <a:ext cx="98573" cy="111192"/>
          </a:xfrm>
          <a:prstGeom prst="line">
            <a:avLst/>
          </a:prstGeom>
          <a:ln w="27940">
            <a:solidFill>
              <a:srgbClr val="346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896356" y="4442520"/>
            <a:ext cx="140817" cy="0"/>
          </a:xfrm>
          <a:prstGeom prst="line">
            <a:avLst/>
          </a:prstGeom>
          <a:ln w="27940">
            <a:solidFill>
              <a:srgbClr val="346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037173" y="4442520"/>
            <a:ext cx="126736" cy="67300"/>
          </a:xfrm>
          <a:prstGeom prst="line">
            <a:avLst/>
          </a:prstGeom>
          <a:ln w="27940">
            <a:solidFill>
              <a:srgbClr val="346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163909" y="4509820"/>
            <a:ext cx="211227" cy="0"/>
          </a:xfrm>
          <a:prstGeom prst="line">
            <a:avLst/>
          </a:prstGeom>
          <a:ln w="27940">
            <a:solidFill>
              <a:srgbClr val="346C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76688" y="4983480"/>
            <a:ext cx="12984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346C9F"/>
                </a:solidFill>
                <a:latin typeface="Aptos Mono"/>
              </a:rPr>
              <a:t>0 ≤ Vop &lt; VDD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DESIGN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What We Will Change, One Item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A documented base case makes every comparison explainable.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06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64008" cy="150876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S1-S4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Response speed, power, and switching disturbance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64008" cy="1508760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231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Charge moved per UP or DN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7451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874519"/>
            <a:ext cx="64008" cy="1508760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23160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Ripple, hold behavior, and settling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74903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749039"/>
            <a:ext cx="64008" cy="1508760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913631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UP/DN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297679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Pulse width, rate, safe gap, and overlap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903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749039"/>
            <a:ext cx="64008" cy="1508760"/>
          </a:xfrm>
          <a:prstGeom prst="rect">
            <a:avLst/>
          </a:prstGeom>
          <a:solidFill>
            <a:srgbClr val="9F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913631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Output 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297679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Step size, drift, and stability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3749039"/>
            <a:ext cx="3456432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3749039"/>
            <a:ext cx="64008" cy="150876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913631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VDD, temperature,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297679"/>
            <a:ext cx="305409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Robustness across PVT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CADENCE ANALYSIS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Measurements That Define Useful PLL Charge-Pump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The final choice will balance response, smoothness, hold performance, and power use.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07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3456432" cy="1298448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64008" cy="1298448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UP / DN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movement for a command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5643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64008" cy="1298448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Rise / fall / settling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2316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Speed of the requested response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74519"/>
            <a:ext cx="3456432" cy="1298448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6448" y="1874519"/>
            <a:ext cx="64008" cy="1298448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03911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Ripple / spikes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42316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Output smoothness and switching disturbance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566160"/>
            <a:ext cx="3456432" cy="1298448"/>
          </a:xfrm>
          <a:prstGeom prst="roundRect">
            <a:avLst/>
          </a:prstGeom>
          <a:solidFill>
            <a:srgbClr val="FBF4E2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566160"/>
            <a:ext cx="64008" cy="1298448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" y="373075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Hold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" y="411480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Vop change with no active command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566160"/>
            <a:ext cx="3456432" cy="12984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3566160"/>
            <a:ext cx="64008" cy="1298448"/>
          </a:xfrm>
          <a:prstGeom prst="rect">
            <a:avLst/>
          </a:prstGeom>
          <a:solidFill>
            <a:srgbClr val="9F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73075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Supply current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411480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Current from VDD during each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3566160"/>
            <a:ext cx="3456432" cy="1298448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3566160"/>
            <a:ext cx="64008" cy="1298448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730752"/>
            <a:ext cx="30723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Energy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14800"/>
            <a:ext cx="305409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Fair comparison under identical test conditions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13248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111D23"/>
                </a:solidFill>
                <a:latin typeface="Aptos"/>
              </a:rPr>
              <a:t>Fair comparison rule: keep the same starting Vop, load, input sequence, simulation length, and measurement points.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ROBUSTNESS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PVT and Repeated-Run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After individual trade-offs are understood, promising settings will be tested under changing conditions.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08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01952"/>
            <a:ext cx="3429000" cy="356616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901952"/>
            <a:ext cx="64008" cy="3566160"/>
          </a:xfrm>
          <a:prstGeom prst="rect">
            <a:avLst/>
          </a:prstGeom>
          <a:solidFill>
            <a:srgbClr val="346C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66544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Process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450592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Typical, faster, and slower models from the selected Cadence library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Observe correct UP/DN direction, step size, ripple, drift, and power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901952"/>
            <a:ext cx="3429000" cy="3566160"/>
          </a:xfrm>
          <a:prstGeom prst="roundRect">
            <a:avLst/>
          </a:prstGeom>
          <a:solidFill>
            <a:srgbClr val="FBF4E2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901952"/>
            <a:ext cx="64008" cy="3566160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66544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Voltage and temperature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2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Lower, normal, and higher VDD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Cold, room, and hot settings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Check that Vop remains controlled within the supply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901952"/>
            <a:ext cx="3429000" cy="3566160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901952"/>
            <a:ext cx="64008" cy="3566160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66544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Combined and statistical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50592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Example: low VDD with slow devices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Example: hot temperature with heavier load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Repeated runs only if supported by the library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SIMULATION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From a Base Waveform to a Final Simulated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The base transient makes UP, DN, and hold visible before any parameter sweep begins.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09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121408"/>
            <a:ext cx="1901952" cy="2606040"/>
          </a:xfrm>
          <a:prstGeom prst="roundRect">
            <a:avLst/>
          </a:prstGeom>
          <a:solidFill>
            <a:srgbClr val="E9F2FA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313432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888B"/>
                </a:solidFill>
                <a:latin typeface="Apto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761488"/>
            <a:ext cx="1536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Quiet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218688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Start from a known Vop condition.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42032" y="3429000"/>
            <a:ext cx="256032" cy="0"/>
          </a:xfrm>
          <a:prstGeom prst="line">
            <a:avLst/>
          </a:prstGeom>
          <a:ln w="20320">
            <a:solidFill>
              <a:srgbClr val="23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9504" y="2121408"/>
            <a:ext cx="1901952" cy="2606040"/>
          </a:xfrm>
          <a:prstGeom prst="roundRect">
            <a:avLst/>
          </a:prstGeom>
          <a:solidFill>
            <a:srgbClr val="ECF6EB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313432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888B"/>
                </a:solidFill>
                <a:latin typeface="Apto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4096" y="2761488"/>
            <a:ext cx="1536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54096" y="3218688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Apply a group of UP pulses.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09744" y="3429000"/>
            <a:ext cx="256032" cy="0"/>
          </a:xfrm>
          <a:prstGeom prst="line">
            <a:avLst/>
          </a:prstGeom>
          <a:ln w="20320">
            <a:solidFill>
              <a:srgbClr val="23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57216" y="2121408"/>
            <a:ext cx="1901952" cy="2606040"/>
          </a:xfrm>
          <a:prstGeom prst="roundRect">
            <a:avLst/>
          </a:prstGeom>
          <a:solidFill>
            <a:srgbClr val="F2F7F6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1807" y="2313432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888B"/>
                </a:solidFill>
                <a:latin typeface="Apto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2761488"/>
            <a:ext cx="1536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3218688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Observe ripple and drift after UP.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77456" y="3429000"/>
            <a:ext cx="256032" cy="0"/>
          </a:xfrm>
          <a:prstGeom prst="line">
            <a:avLst/>
          </a:prstGeom>
          <a:ln w="20320">
            <a:solidFill>
              <a:srgbClr val="23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7" y="2121408"/>
            <a:ext cx="1901952" cy="2606040"/>
          </a:xfrm>
          <a:prstGeom prst="roundRect">
            <a:avLst/>
          </a:prstGeom>
          <a:solidFill>
            <a:srgbClr val="FBF4E2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19" y="2313432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888B"/>
                </a:solidFill>
                <a:latin typeface="Aptos Mon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2761488"/>
            <a:ext cx="1536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DN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218688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Apply a group of DN pulses.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45167" y="3429000"/>
            <a:ext cx="256033" cy="0"/>
          </a:xfrm>
          <a:prstGeom prst="line">
            <a:avLst/>
          </a:prstGeom>
          <a:ln w="20320">
            <a:solidFill>
              <a:srgbClr val="2388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92640" y="2121408"/>
            <a:ext cx="1901952" cy="2606040"/>
          </a:xfrm>
          <a:prstGeom prst="roundRect">
            <a:avLst/>
          </a:prstGeom>
          <a:solidFill>
            <a:srgbClr val="F2F7F6"/>
          </a:solidFill>
          <a:ln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2313432"/>
            <a:ext cx="3474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3888B"/>
                </a:solidFill>
                <a:latin typeface="Aptos Mon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2761488"/>
            <a:ext cx="153619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11D23"/>
                </a:solidFill>
                <a:latin typeface="Aptos"/>
              </a:rPr>
              <a:t>Hold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218688"/>
            <a:ext cx="1508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26870"/>
                </a:solidFill>
                <a:latin typeface="Aptos"/>
              </a:rPr>
              <a:t>Observe final stability and supply current.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035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111D23"/>
                </a:solidFill>
                <a:latin typeface="Aptos"/>
              </a:rPr>
              <a:t>Save this waveform as the base case. Then vary one main parameter per simple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7315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26870"/>
                </a:solidFill>
                <a:latin typeface="Aptos Mono"/>
              </a:rPr>
              <a:t>PROJECT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11D23"/>
                </a:solidFill>
                <a:latin typeface="Aptos"/>
              </a:rPr>
              <a:t>Three Reviews: Plan, Evidence, and Final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15568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26870"/>
                </a:solidFill>
                <a:latin typeface="Aptos"/>
              </a:rPr>
              <a:t>Review 1 does not claim completed simulation results. Results are introduced only after Cadence runs are completed and checked.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536192"/>
            <a:ext cx="11183112" cy="0"/>
          </a:xfrm>
          <a:prstGeom prst="line">
            <a:avLst/>
          </a:prstGeom>
          <a:ln w="10160">
            <a:solidFill>
              <a:srgbClr val="C9D7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53344" y="384048"/>
            <a:ext cx="65836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526870"/>
                </a:solidFill>
                <a:latin typeface="Aptos Mono"/>
              </a:rP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583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26870"/>
                </a:solidFill>
                <a:latin typeface="Aptos Mono"/>
              </a:rPr>
              <a:t>Switch-Based CMOS Charge Pump - Review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69880" y="6473952"/>
            <a:ext cx="120700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26870"/>
                </a:solidFill>
                <a:latin typeface="Aptos Mono"/>
              </a:rPr>
              <a:t>Cadence Virtuoso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874519"/>
            <a:ext cx="3429000" cy="3566160"/>
          </a:xfrm>
          <a:prstGeom prst="roundRect">
            <a:avLst/>
          </a:prstGeom>
          <a:solidFill>
            <a:srgbClr val="E9F2FA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64008" cy="3566160"/>
          </a:xfrm>
          <a:prstGeom prst="rect">
            <a:avLst/>
          </a:prstGeom>
          <a:solidFill>
            <a:srgbClr val="238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039112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Review 1 -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423160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Explain the selected S1-S4 charge pump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Define the Cadence-only scope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Prepare the test procedure and analysis list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Deliverable: approved design and simulation 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874519"/>
            <a:ext cx="3429000" cy="3566160"/>
          </a:xfrm>
          <a:prstGeom prst="roundRect">
            <a:avLst/>
          </a:prstGeom>
          <a:solidFill>
            <a:srgbClr val="FBF4E2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9976" y="1874519"/>
            <a:ext cx="64008" cy="3566160"/>
          </a:xfrm>
          <a:prstGeom prst="rect">
            <a:avLst/>
          </a:prstGeom>
          <a:solidFill>
            <a:srgbClr val="956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Review 2 -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23160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Build the schematic, symbol, and testbench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Run the first real UP, DN, and hold waveforms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Begin switch, capacitor, timing, and load comparisons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Deliverable: initial simulation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429000" cy="3566160"/>
          </a:xfrm>
          <a:prstGeom prst="roundRect">
            <a:avLst/>
          </a:prstGeom>
          <a:solidFill>
            <a:srgbClr val="ECF6EB"/>
          </a:solidFill>
          <a:ln w="10160">
            <a:solidFill>
              <a:srgbClr val="C9D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64008" cy="3566160"/>
          </a:xfrm>
          <a:prstGeom prst="rect">
            <a:avLst/>
          </a:prstGeom>
          <a:solidFill>
            <a:srgbClr val="346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2039112"/>
            <a:ext cx="30449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11D23"/>
                </a:solidFill>
                <a:latin typeface="Aptos"/>
              </a:rPr>
              <a:t>Review 3 -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23160"/>
            <a:ext cx="3026664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Complete PVT and combined-condition checks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Compare useful cases and select the final simulated setup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Present waveforms, measured trade-offs, and limitations</a:t>
            </a:r>
          </a:p>
          <a:p>
            <a:pPr>
              <a:spcAft>
                <a:spcPts val="500"/>
              </a:spcAft>
              <a:defRPr sz="1150">
                <a:solidFill>
                  <a:srgbClr val="526870"/>
                </a:solidFill>
                <a:latin typeface="Aptos"/>
              </a:defRPr>
            </a:pPr>
            <a:r>
              <a:t>• Deliverable: final Cadence simulation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60720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26870"/>
                </a:solidFill>
                <a:latin typeface="Aptos"/>
              </a:rPr>
              <a:t>Reference paper: Sivasakthi and Radhika, A High-Speed MCML Charge Pump Design at 10 GHz Frequency in 45 nm CMOS Technology for PLL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Switch-Based PLL CMOS Charge Pump - Review 1</dc:title>
  <dc:subject>Cadence Virtuoso simulation plan</dc:subject>
  <dc:creator>Pragyan Jain, Shivam Kumar, K Navin Aakash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